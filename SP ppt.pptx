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64" r:id="rId3"/>
    <p:sldId id="268" r:id="rId4"/>
    <p:sldId id="270" r:id="rId5"/>
    <p:sldId id="269" r:id="rId6"/>
    <p:sldId id="271" r:id="rId7"/>
    <p:sldId id="265" r:id="rId8"/>
    <p:sldId id="266" r:id="rId9"/>
    <p:sldId id="267" r:id="rId10"/>
    <p:sldId id="258" r:id="rId11"/>
    <p:sldId id="257" r:id="rId12"/>
    <p:sldId id="259" r:id="rId13"/>
    <p:sldId id="260" r:id="rId14"/>
    <p:sldId id="261" r:id="rId15"/>
    <p:sldId id="262" r:id="rId16"/>
    <p:sldId id="272" r:id="rId17"/>
    <p:sldId id="263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5"/>
    <p:restoredTop sz="94694"/>
  </p:normalViewPr>
  <p:slideViewPr>
    <p:cSldViewPr snapToGrid="0">
      <p:cViewPr varScale="1">
        <p:scale>
          <a:sx n="96" d="100"/>
          <a:sy n="96" d="100"/>
        </p:scale>
        <p:origin x="200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AFC76D-62C0-4093-A4AA-3BFBA5CC1E5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9CB18B-BC07-45CA-ACB8-8FA7ECA6CC45}">
      <dgm:prSet/>
      <dgm:spPr/>
      <dgm:t>
        <a:bodyPr/>
        <a:lstStyle/>
        <a:p>
          <a:r>
            <a:rPr lang="en-US"/>
            <a:t>To help with this task, we made a function named ECG_HRConverter.</a:t>
          </a:r>
        </a:p>
      </dgm:t>
    </dgm:pt>
    <dgm:pt modelId="{A85DD5A2-8C36-4E25-AB6E-7CC74AEC8D11}" type="parTrans" cxnId="{381CB582-0AFD-464F-A868-626D59EE67E7}">
      <dgm:prSet/>
      <dgm:spPr/>
      <dgm:t>
        <a:bodyPr/>
        <a:lstStyle/>
        <a:p>
          <a:endParaRPr lang="en-US"/>
        </a:p>
      </dgm:t>
    </dgm:pt>
    <dgm:pt modelId="{7849319D-33DB-45B4-85CD-29FEDBC39E9A}" type="sibTrans" cxnId="{381CB582-0AFD-464F-A868-626D59EE67E7}">
      <dgm:prSet/>
      <dgm:spPr/>
      <dgm:t>
        <a:bodyPr/>
        <a:lstStyle/>
        <a:p>
          <a:endParaRPr lang="en-US"/>
        </a:p>
      </dgm:t>
    </dgm:pt>
    <dgm:pt modelId="{BBD09E85-3982-410A-93B1-9E8568FF83DD}">
      <dgm:prSet/>
      <dgm:spPr/>
      <dgm:t>
        <a:bodyPr/>
        <a:lstStyle/>
        <a:p>
          <a:r>
            <a:rPr lang="en-US"/>
            <a:t>This function finds R peaks using findpeaks function in matlab and then calculates the heart rate.</a:t>
          </a:r>
        </a:p>
      </dgm:t>
    </dgm:pt>
    <dgm:pt modelId="{F5490C7B-4835-48F0-A642-29144E292653}" type="parTrans" cxnId="{0693E60E-3A20-4C41-BD38-851817177D8C}">
      <dgm:prSet/>
      <dgm:spPr/>
      <dgm:t>
        <a:bodyPr/>
        <a:lstStyle/>
        <a:p>
          <a:endParaRPr lang="en-US"/>
        </a:p>
      </dgm:t>
    </dgm:pt>
    <dgm:pt modelId="{FC2447C8-7318-414F-A023-FB321A79A8A7}" type="sibTrans" cxnId="{0693E60E-3A20-4C41-BD38-851817177D8C}">
      <dgm:prSet/>
      <dgm:spPr/>
      <dgm:t>
        <a:bodyPr/>
        <a:lstStyle/>
        <a:p>
          <a:endParaRPr lang="en-US"/>
        </a:p>
      </dgm:t>
    </dgm:pt>
    <dgm:pt modelId="{2E2E496D-2B3E-45BF-81E0-476421142DB1}">
      <dgm:prSet/>
      <dgm:spPr/>
      <dgm:t>
        <a:bodyPr/>
        <a:lstStyle/>
        <a:p>
          <a:r>
            <a:rPr lang="en-US"/>
            <a:t>This heart rate is averaged out every minute and populates a vector which will be our output</a:t>
          </a:r>
        </a:p>
      </dgm:t>
    </dgm:pt>
    <dgm:pt modelId="{D18B903F-2061-43C1-9711-7B4543CA07AC}" type="parTrans" cxnId="{0B03FC0C-AB9F-4895-849B-F3E61410965F}">
      <dgm:prSet/>
      <dgm:spPr/>
      <dgm:t>
        <a:bodyPr/>
        <a:lstStyle/>
        <a:p>
          <a:endParaRPr lang="en-US"/>
        </a:p>
      </dgm:t>
    </dgm:pt>
    <dgm:pt modelId="{A3ECF9C0-19FA-4B34-B2D7-914B8105A45D}" type="sibTrans" cxnId="{0B03FC0C-AB9F-4895-849B-F3E61410965F}">
      <dgm:prSet/>
      <dgm:spPr/>
      <dgm:t>
        <a:bodyPr/>
        <a:lstStyle/>
        <a:p>
          <a:endParaRPr lang="en-US"/>
        </a:p>
      </dgm:t>
    </dgm:pt>
    <dgm:pt modelId="{0D442ACA-27C9-BA4F-BC8E-8C825A8A60D9}" type="pres">
      <dgm:prSet presAssocID="{27AFC76D-62C0-4093-A4AA-3BFBA5CC1E5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2BC106-967B-D847-A216-C1994F4C14F6}" type="pres">
      <dgm:prSet presAssocID="{989CB18B-BC07-45CA-ACB8-8FA7ECA6CC45}" presName="hierRoot1" presStyleCnt="0"/>
      <dgm:spPr/>
    </dgm:pt>
    <dgm:pt modelId="{8DB60253-E2B7-7E40-8DF0-1BC8857A7555}" type="pres">
      <dgm:prSet presAssocID="{989CB18B-BC07-45CA-ACB8-8FA7ECA6CC45}" presName="composite" presStyleCnt="0"/>
      <dgm:spPr/>
    </dgm:pt>
    <dgm:pt modelId="{28AB8E69-ECA0-C14C-A147-40D756CC7545}" type="pres">
      <dgm:prSet presAssocID="{989CB18B-BC07-45CA-ACB8-8FA7ECA6CC45}" presName="background" presStyleLbl="node0" presStyleIdx="0" presStyleCnt="3"/>
      <dgm:spPr/>
    </dgm:pt>
    <dgm:pt modelId="{1D481F00-7721-DD48-B2F7-E12F7F5A4920}" type="pres">
      <dgm:prSet presAssocID="{989CB18B-BC07-45CA-ACB8-8FA7ECA6CC45}" presName="text" presStyleLbl="fgAcc0" presStyleIdx="0" presStyleCnt="3">
        <dgm:presLayoutVars>
          <dgm:chPref val="3"/>
        </dgm:presLayoutVars>
      </dgm:prSet>
      <dgm:spPr/>
    </dgm:pt>
    <dgm:pt modelId="{BF615D56-AD2D-3042-A83A-F514BFD9FECE}" type="pres">
      <dgm:prSet presAssocID="{989CB18B-BC07-45CA-ACB8-8FA7ECA6CC45}" presName="hierChild2" presStyleCnt="0"/>
      <dgm:spPr/>
    </dgm:pt>
    <dgm:pt modelId="{06CC5A93-F4C2-7347-A481-772668D98BEC}" type="pres">
      <dgm:prSet presAssocID="{BBD09E85-3982-410A-93B1-9E8568FF83DD}" presName="hierRoot1" presStyleCnt="0"/>
      <dgm:spPr/>
    </dgm:pt>
    <dgm:pt modelId="{0D042DA7-8C71-C044-86B1-AA0531743F9B}" type="pres">
      <dgm:prSet presAssocID="{BBD09E85-3982-410A-93B1-9E8568FF83DD}" presName="composite" presStyleCnt="0"/>
      <dgm:spPr/>
    </dgm:pt>
    <dgm:pt modelId="{4E88472A-D1CC-FB4B-B750-FB026ED8421F}" type="pres">
      <dgm:prSet presAssocID="{BBD09E85-3982-410A-93B1-9E8568FF83DD}" presName="background" presStyleLbl="node0" presStyleIdx="1" presStyleCnt="3"/>
      <dgm:spPr/>
    </dgm:pt>
    <dgm:pt modelId="{C50B1727-2E5F-324D-BBA7-9EEC579CB366}" type="pres">
      <dgm:prSet presAssocID="{BBD09E85-3982-410A-93B1-9E8568FF83DD}" presName="text" presStyleLbl="fgAcc0" presStyleIdx="1" presStyleCnt="3">
        <dgm:presLayoutVars>
          <dgm:chPref val="3"/>
        </dgm:presLayoutVars>
      </dgm:prSet>
      <dgm:spPr/>
    </dgm:pt>
    <dgm:pt modelId="{8E32DBC1-09F9-0C44-8689-AF75999C5869}" type="pres">
      <dgm:prSet presAssocID="{BBD09E85-3982-410A-93B1-9E8568FF83DD}" presName="hierChild2" presStyleCnt="0"/>
      <dgm:spPr/>
    </dgm:pt>
    <dgm:pt modelId="{538AAA52-EA55-0547-A22C-16DEC8A6039D}" type="pres">
      <dgm:prSet presAssocID="{2E2E496D-2B3E-45BF-81E0-476421142DB1}" presName="hierRoot1" presStyleCnt="0"/>
      <dgm:spPr/>
    </dgm:pt>
    <dgm:pt modelId="{97DD58CB-F0F9-5143-AE96-7AC03534AA15}" type="pres">
      <dgm:prSet presAssocID="{2E2E496D-2B3E-45BF-81E0-476421142DB1}" presName="composite" presStyleCnt="0"/>
      <dgm:spPr/>
    </dgm:pt>
    <dgm:pt modelId="{D59B30FA-9C2D-0B4C-93F7-DA1667B69F06}" type="pres">
      <dgm:prSet presAssocID="{2E2E496D-2B3E-45BF-81E0-476421142DB1}" presName="background" presStyleLbl="node0" presStyleIdx="2" presStyleCnt="3"/>
      <dgm:spPr/>
    </dgm:pt>
    <dgm:pt modelId="{17E8D460-8A64-764A-84C9-E85B67EE1A1E}" type="pres">
      <dgm:prSet presAssocID="{2E2E496D-2B3E-45BF-81E0-476421142DB1}" presName="text" presStyleLbl="fgAcc0" presStyleIdx="2" presStyleCnt="3">
        <dgm:presLayoutVars>
          <dgm:chPref val="3"/>
        </dgm:presLayoutVars>
      </dgm:prSet>
      <dgm:spPr/>
    </dgm:pt>
    <dgm:pt modelId="{29D73818-C722-1B46-9458-EB7ABA80E9CB}" type="pres">
      <dgm:prSet presAssocID="{2E2E496D-2B3E-45BF-81E0-476421142DB1}" presName="hierChild2" presStyleCnt="0"/>
      <dgm:spPr/>
    </dgm:pt>
  </dgm:ptLst>
  <dgm:cxnLst>
    <dgm:cxn modelId="{0B03FC0C-AB9F-4895-849B-F3E61410965F}" srcId="{27AFC76D-62C0-4093-A4AA-3BFBA5CC1E5D}" destId="{2E2E496D-2B3E-45BF-81E0-476421142DB1}" srcOrd="2" destOrd="0" parTransId="{D18B903F-2061-43C1-9711-7B4543CA07AC}" sibTransId="{A3ECF9C0-19FA-4B34-B2D7-914B8105A45D}"/>
    <dgm:cxn modelId="{0693E60E-3A20-4C41-BD38-851817177D8C}" srcId="{27AFC76D-62C0-4093-A4AA-3BFBA5CC1E5D}" destId="{BBD09E85-3982-410A-93B1-9E8568FF83DD}" srcOrd="1" destOrd="0" parTransId="{F5490C7B-4835-48F0-A642-29144E292653}" sibTransId="{FC2447C8-7318-414F-A023-FB321A79A8A7}"/>
    <dgm:cxn modelId="{CFF27C1E-92FC-1448-BB72-B063939B06E6}" type="presOf" srcId="{BBD09E85-3982-410A-93B1-9E8568FF83DD}" destId="{C50B1727-2E5F-324D-BBA7-9EEC579CB366}" srcOrd="0" destOrd="0" presId="urn:microsoft.com/office/officeart/2005/8/layout/hierarchy1"/>
    <dgm:cxn modelId="{34020142-7F53-1B49-AE9D-BE61BA86871D}" type="presOf" srcId="{27AFC76D-62C0-4093-A4AA-3BFBA5CC1E5D}" destId="{0D442ACA-27C9-BA4F-BC8E-8C825A8A60D9}" srcOrd="0" destOrd="0" presId="urn:microsoft.com/office/officeart/2005/8/layout/hierarchy1"/>
    <dgm:cxn modelId="{4C4BE171-5107-DB4E-AC01-57FE1BF38DF9}" type="presOf" srcId="{2E2E496D-2B3E-45BF-81E0-476421142DB1}" destId="{17E8D460-8A64-764A-84C9-E85B67EE1A1E}" srcOrd="0" destOrd="0" presId="urn:microsoft.com/office/officeart/2005/8/layout/hierarchy1"/>
    <dgm:cxn modelId="{F1FF7979-393C-5044-B698-97FEBE80A774}" type="presOf" srcId="{989CB18B-BC07-45CA-ACB8-8FA7ECA6CC45}" destId="{1D481F00-7721-DD48-B2F7-E12F7F5A4920}" srcOrd="0" destOrd="0" presId="urn:microsoft.com/office/officeart/2005/8/layout/hierarchy1"/>
    <dgm:cxn modelId="{381CB582-0AFD-464F-A868-626D59EE67E7}" srcId="{27AFC76D-62C0-4093-A4AA-3BFBA5CC1E5D}" destId="{989CB18B-BC07-45CA-ACB8-8FA7ECA6CC45}" srcOrd="0" destOrd="0" parTransId="{A85DD5A2-8C36-4E25-AB6E-7CC74AEC8D11}" sibTransId="{7849319D-33DB-45B4-85CD-29FEDBC39E9A}"/>
    <dgm:cxn modelId="{8F1368D0-5D8F-B448-BF5B-37F2F8B9973A}" type="presParOf" srcId="{0D442ACA-27C9-BA4F-BC8E-8C825A8A60D9}" destId="{BA2BC106-967B-D847-A216-C1994F4C14F6}" srcOrd="0" destOrd="0" presId="urn:microsoft.com/office/officeart/2005/8/layout/hierarchy1"/>
    <dgm:cxn modelId="{6023BD60-E4A5-2F43-AF39-F8EFD363A705}" type="presParOf" srcId="{BA2BC106-967B-D847-A216-C1994F4C14F6}" destId="{8DB60253-E2B7-7E40-8DF0-1BC8857A7555}" srcOrd="0" destOrd="0" presId="urn:microsoft.com/office/officeart/2005/8/layout/hierarchy1"/>
    <dgm:cxn modelId="{C71A0D98-597A-0947-B720-6F97B60D754B}" type="presParOf" srcId="{8DB60253-E2B7-7E40-8DF0-1BC8857A7555}" destId="{28AB8E69-ECA0-C14C-A147-40D756CC7545}" srcOrd="0" destOrd="0" presId="urn:microsoft.com/office/officeart/2005/8/layout/hierarchy1"/>
    <dgm:cxn modelId="{1DC2E5DE-599B-834A-A807-38E78ED8C56B}" type="presParOf" srcId="{8DB60253-E2B7-7E40-8DF0-1BC8857A7555}" destId="{1D481F00-7721-DD48-B2F7-E12F7F5A4920}" srcOrd="1" destOrd="0" presId="urn:microsoft.com/office/officeart/2005/8/layout/hierarchy1"/>
    <dgm:cxn modelId="{0B683E9D-7393-4643-9134-BC1BFD682288}" type="presParOf" srcId="{BA2BC106-967B-D847-A216-C1994F4C14F6}" destId="{BF615D56-AD2D-3042-A83A-F514BFD9FECE}" srcOrd="1" destOrd="0" presId="urn:microsoft.com/office/officeart/2005/8/layout/hierarchy1"/>
    <dgm:cxn modelId="{49D8801B-BAA1-8A4F-9C22-0CA12CB58CEF}" type="presParOf" srcId="{0D442ACA-27C9-BA4F-BC8E-8C825A8A60D9}" destId="{06CC5A93-F4C2-7347-A481-772668D98BEC}" srcOrd="1" destOrd="0" presId="urn:microsoft.com/office/officeart/2005/8/layout/hierarchy1"/>
    <dgm:cxn modelId="{0DEC38E8-2386-FB42-97A7-95A6637AEC97}" type="presParOf" srcId="{06CC5A93-F4C2-7347-A481-772668D98BEC}" destId="{0D042DA7-8C71-C044-86B1-AA0531743F9B}" srcOrd="0" destOrd="0" presId="urn:microsoft.com/office/officeart/2005/8/layout/hierarchy1"/>
    <dgm:cxn modelId="{C745AA5A-F5FC-7846-8807-8ABF0AD81781}" type="presParOf" srcId="{0D042DA7-8C71-C044-86B1-AA0531743F9B}" destId="{4E88472A-D1CC-FB4B-B750-FB026ED8421F}" srcOrd="0" destOrd="0" presId="urn:microsoft.com/office/officeart/2005/8/layout/hierarchy1"/>
    <dgm:cxn modelId="{30819E2E-AEDD-7347-A181-2CE681E50957}" type="presParOf" srcId="{0D042DA7-8C71-C044-86B1-AA0531743F9B}" destId="{C50B1727-2E5F-324D-BBA7-9EEC579CB366}" srcOrd="1" destOrd="0" presId="urn:microsoft.com/office/officeart/2005/8/layout/hierarchy1"/>
    <dgm:cxn modelId="{101AF107-8B7E-9E41-A746-A0C3F5D4BE5A}" type="presParOf" srcId="{06CC5A93-F4C2-7347-A481-772668D98BEC}" destId="{8E32DBC1-09F9-0C44-8689-AF75999C5869}" srcOrd="1" destOrd="0" presId="urn:microsoft.com/office/officeart/2005/8/layout/hierarchy1"/>
    <dgm:cxn modelId="{F10F9F02-A985-6347-BB0D-742FF79ACC35}" type="presParOf" srcId="{0D442ACA-27C9-BA4F-BC8E-8C825A8A60D9}" destId="{538AAA52-EA55-0547-A22C-16DEC8A6039D}" srcOrd="2" destOrd="0" presId="urn:microsoft.com/office/officeart/2005/8/layout/hierarchy1"/>
    <dgm:cxn modelId="{BD908F6F-EA48-9348-92ED-B2B27B7AD78E}" type="presParOf" srcId="{538AAA52-EA55-0547-A22C-16DEC8A6039D}" destId="{97DD58CB-F0F9-5143-AE96-7AC03534AA15}" srcOrd="0" destOrd="0" presId="urn:microsoft.com/office/officeart/2005/8/layout/hierarchy1"/>
    <dgm:cxn modelId="{6B4858BC-10FA-7E44-B4BB-F994A53CEC47}" type="presParOf" srcId="{97DD58CB-F0F9-5143-AE96-7AC03534AA15}" destId="{D59B30FA-9C2D-0B4C-93F7-DA1667B69F06}" srcOrd="0" destOrd="0" presId="urn:microsoft.com/office/officeart/2005/8/layout/hierarchy1"/>
    <dgm:cxn modelId="{947A5DE2-5636-A24E-97BA-4BD97EE7BC87}" type="presParOf" srcId="{97DD58CB-F0F9-5143-AE96-7AC03534AA15}" destId="{17E8D460-8A64-764A-84C9-E85B67EE1A1E}" srcOrd="1" destOrd="0" presId="urn:microsoft.com/office/officeart/2005/8/layout/hierarchy1"/>
    <dgm:cxn modelId="{725F34FA-CF44-8A44-88EA-7435866D69EC}" type="presParOf" srcId="{538AAA52-EA55-0547-A22C-16DEC8A6039D}" destId="{29D73818-C722-1B46-9458-EB7ABA80E9C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B8E69-ECA0-C14C-A147-40D756CC7545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81F00-7721-DD48-B2F7-E12F7F5A4920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To help with this task, we made a function named ECG_HRConverter.</a:t>
          </a:r>
        </a:p>
      </dsp:txBody>
      <dsp:txXfrm>
        <a:off x="374352" y="843542"/>
        <a:ext cx="2778721" cy="1725303"/>
      </dsp:txXfrm>
    </dsp:sp>
    <dsp:sp modelId="{4E88472A-D1CC-FB4B-B750-FB026ED8421F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B1727-2E5F-324D-BBA7-9EEC579CB366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function finds R peaks using findpeaks function in matlab and then calculates the heart rate.</a:t>
          </a:r>
        </a:p>
      </dsp:txBody>
      <dsp:txXfrm>
        <a:off x="3901776" y="843542"/>
        <a:ext cx="2778721" cy="1725303"/>
      </dsp:txXfrm>
    </dsp:sp>
    <dsp:sp modelId="{D59B30FA-9C2D-0B4C-93F7-DA1667B69F06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8D460-8A64-764A-84C9-E85B67EE1A1E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heart rate is averaged out every minute and populates a vector which will be our output</a:t>
          </a:r>
        </a:p>
      </dsp:txBody>
      <dsp:txXfrm>
        <a:off x="7429201" y="843542"/>
        <a:ext cx="2778721" cy="17253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_wave_(electrocardiography)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cgwaves.com/ecg-normal-p-wave-qrs-complex-st-segment-t-wave-j-point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7D3A4E0-C908-4EA9-ABDF-E82AD6BDE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D27A4-459A-1763-CC55-2C652E11D8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63323"/>
            <a:ext cx="8991600" cy="1692771"/>
          </a:xfrm>
        </p:spPr>
        <p:txBody>
          <a:bodyPr>
            <a:normAutofit/>
          </a:bodyPr>
          <a:lstStyle/>
          <a:p>
            <a:r>
              <a:rPr lang="en-US" dirty="0"/>
              <a:t>SP-Project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5648C-5C6F-3693-3887-08E0565B2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9220" y="5374888"/>
            <a:ext cx="3995955" cy="758282"/>
          </a:xfrm>
        </p:spPr>
        <p:txBody>
          <a:bodyPr>
            <a:normAutofit/>
          </a:bodyPr>
          <a:lstStyle/>
          <a:p>
            <a:pPr algn="r"/>
            <a:r>
              <a:rPr lang="en-US" sz="2800" dirty="0" err="1">
                <a:solidFill>
                  <a:schemeClr val="bg1"/>
                </a:solidFill>
              </a:rPr>
              <a:t>FourYear</a:t>
            </a:r>
            <a:r>
              <a:rPr lang="en-US" sz="2800" dirty="0">
                <a:solidFill>
                  <a:schemeClr val="bg1"/>
                </a:solidFill>
              </a:rPr>
              <a:t> Transforms</a:t>
            </a:r>
          </a:p>
        </p:txBody>
      </p:sp>
    </p:spTree>
    <p:extLst>
      <p:ext uri="{BB962C8B-B14F-4D97-AF65-F5344CB8AC3E}">
        <p14:creationId xmlns:p14="http://schemas.microsoft.com/office/powerpoint/2010/main" val="41110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64CE-F788-3221-B7DF-A96B9704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Part-1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5EF3E-53D5-0B4C-73A1-B77C85AA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35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EAA2-683F-1983-5DB5-267911C7B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496" y="978776"/>
            <a:ext cx="5925310" cy="1174991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/>
              <a:t>Problem statement</a:t>
            </a:r>
          </a:p>
        </p:txBody>
      </p:sp>
      <p:pic>
        <p:nvPicPr>
          <p:cNvPr id="10" name="Picture 9" descr="Bird landing on a tree">
            <a:extLst>
              <a:ext uri="{FF2B5EF4-FFF2-40B4-BE49-F238E27FC236}">
                <a16:creationId xmlns:a16="http://schemas.microsoft.com/office/drawing/2014/main" id="{B2616EA0-77BD-A816-12E9-685106F8C8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4" r="36357" b="1"/>
          <a:stretch/>
        </p:blipFill>
        <p:spPr>
          <a:xfrm>
            <a:off x="20" y="10"/>
            <a:ext cx="4657325" cy="68579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AD3961-354E-48FD-4416-79A3CF08C289}"/>
              </a:ext>
            </a:extLst>
          </p:cNvPr>
          <p:cNvSpPr txBox="1"/>
          <p:nvPr/>
        </p:nvSpPr>
        <p:spPr>
          <a:xfrm>
            <a:off x="5445496" y="2640692"/>
            <a:ext cx="5925310" cy="32552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We are Given Audio Samples of 3 Birds and by Analysis of those that we have to Predict Bird in the Given Test Audios</a:t>
            </a:r>
          </a:p>
        </p:txBody>
      </p:sp>
    </p:spTree>
    <p:extLst>
      <p:ext uri="{BB962C8B-B14F-4D97-AF65-F5344CB8AC3E}">
        <p14:creationId xmlns:p14="http://schemas.microsoft.com/office/powerpoint/2010/main" val="294398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A21C72-692C-49FD-9EB4-DDDDDEBD4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75405" y="950977"/>
            <a:ext cx="9041190" cy="4956047"/>
          </a:xfrm>
          <a:prstGeom prst="rect">
            <a:avLst/>
          </a:prstGeom>
          <a:solidFill>
            <a:srgbClr val="FFFFFF"/>
          </a:solidFill>
          <a:ln w="31750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98D75E-433F-2BAC-C4CA-3041AB6094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6210" y="1519404"/>
            <a:ext cx="7915425" cy="3819191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FBAF941A-6830-47A3-B63C-7C7B66AEA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380" y="624518"/>
            <a:ext cx="2157984" cy="2157984"/>
          </a:xfrm>
          <a:prstGeom prst="ellipse">
            <a:avLst/>
          </a:prstGeom>
          <a:solidFill>
            <a:srgbClr val="404040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EA03B0-0C34-8ACE-D173-5BE2C36B5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972" y="789110"/>
            <a:ext cx="1828800" cy="18288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1300">
                <a:solidFill>
                  <a:srgbClr val="FFFFFF"/>
                </a:solidFill>
              </a:rPr>
              <a:t>FFT Plots of given samples</a:t>
            </a:r>
          </a:p>
        </p:txBody>
      </p:sp>
    </p:spTree>
    <p:extLst>
      <p:ext uri="{BB962C8B-B14F-4D97-AF65-F5344CB8AC3E}">
        <p14:creationId xmlns:p14="http://schemas.microsoft.com/office/powerpoint/2010/main" val="252856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D3E6-5147-DA44-5D4D-BE9836974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640079"/>
            <a:ext cx="3402531" cy="5272242"/>
          </a:xfrm>
        </p:spPr>
        <p:txBody>
          <a:bodyPr>
            <a:normAutofit/>
          </a:bodyPr>
          <a:lstStyle/>
          <a:p>
            <a:r>
              <a:rPr lang="en-IN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8DB72-6B2C-6596-4723-D8BD2E0B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103" y="640079"/>
            <a:ext cx="6883072" cy="2834737"/>
          </a:xfrm>
        </p:spPr>
        <p:txBody>
          <a:bodyPr>
            <a:normAutofit/>
          </a:bodyPr>
          <a:lstStyle/>
          <a:p>
            <a:r>
              <a:rPr lang="en-IN" dirty="0"/>
              <a:t>After Plotting FFT of given Samples, we observe that we can distinguish them based Number of Peaks in Normalised FFT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We choose a Threshold for our Analysis and We can say that if our Test Audio has 0-130 Peaks it is Bird1,if it has 130-400 Peaks it is Bird 2 and if more than this it is Bird 3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EEC20-4A12-5DB1-593A-B5BD6114E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103" y="4187955"/>
            <a:ext cx="6883071" cy="1201533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4484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17E12-C014-DD3F-2BF1-5649BFF6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Final 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C0006-5D4F-E85E-A939-93413C626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249816"/>
            <a:ext cx="4334934" cy="136340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A38EAB-94DE-7F27-B1A2-1E010C1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6867" y="885717"/>
            <a:ext cx="4334934" cy="20916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8D912E-B7FE-A8F8-4380-E86F33191576}"/>
              </a:ext>
            </a:extLst>
          </p:cNvPr>
          <p:cNvSpPr txBox="1"/>
          <p:nvPr/>
        </p:nvSpPr>
        <p:spPr>
          <a:xfrm>
            <a:off x="2238412" y="4846076"/>
            <a:ext cx="7715177" cy="127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Our Code has predicted the Species in Test Samples F1-F8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>
              <a:solidFill>
                <a:schemeClr val="bg1"/>
              </a:solidFill>
            </a:endParaRP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It can be verified by Observing The FFT plots of those Test Samples</a:t>
            </a:r>
          </a:p>
        </p:txBody>
      </p:sp>
    </p:spTree>
    <p:extLst>
      <p:ext uri="{BB962C8B-B14F-4D97-AF65-F5344CB8AC3E}">
        <p14:creationId xmlns:p14="http://schemas.microsoft.com/office/powerpoint/2010/main" val="2239280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4E9A5-49BE-0C15-9A3F-F08E63697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496" y="978776"/>
            <a:ext cx="5925310" cy="1174991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/>
              <a:t>Problem statement</a:t>
            </a:r>
          </a:p>
        </p:txBody>
      </p:sp>
      <p:pic>
        <p:nvPicPr>
          <p:cNvPr id="6" name="Picture 5" descr="Bird landing on a tree">
            <a:extLst>
              <a:ext uri="{FF2B5EF4-FFF2-40B4-BE49-F238E27FC236}">
                <a16:creationId xmlns:a16="http://schemas.microsoft.com/office/drawing/2014/main" id="{1BCB604F-2141-42A9-5F42-CAEDE581DC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13" r="36138" b="1"/>
          <a:stretch/>
        </p:blipFill>
        <p:spPr>
          <a:xfrm>
            <a:off x="20" y="10"/>
            <a:ext cx="4657325" cy="68579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58EB60-2B6B-08D9-E690-AD8C154C9DAE}"/>
              </a:ext>
            </a:extLst>
          </p:cNvPr>
          <p:cNvSpPr txBox="1"/>
          <p:nvPr/>
        </p:nvSpPr>
        <p:spPr>
          <a:xfrm>
            <a:off x="5445496" y="2640692"/>
            <a:ext cx="5925310" cy="32552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We are given Audio Samples of few Birds and our Task is to recongnise Bird whose Test Samples are Given</a:t>
            </a:r>
          </a:p>
        </p:txBody>
      </p:sp>
    </p:spTree>
    <p:extLst>
      <p:ext uri="{BB962C8B-B14F-4D97-AF65-F5344CB8AC3E}">
        <p14:creationId xmlns:p14="http://schemas.microsoft.com/office/powerpoint/2010/main" val="2619882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DB5-5E56-52F9-D0BF-83E45E3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A0F1-A53A-22D2-552B-E4B0147E74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5" y="2325421"/>
            <a:ext cx="7716115" cy="3721418"/>
          </a:xfrm>
        </p:spPr>
      </p:pic>
    </p:spTree>
    <p:extLst>
      <p:ext uri="{BB962C8B-B14F-4D97-AF65-F5344CB8AC3E}">
        <p14:creationId xmlns:p14="http://schemas.microsoft.com/office/powerpoint/2010/main" val="1740160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4A73F-2D64-2ACF-DCAE-BD1E35E43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 to distinguish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73C50-A0CF-B921-8608-82A2C2A774C8}"/>
              </a:ext>
            </a:extLst>
          </p:cNvPr>
          <p:cNvSpPr txBox="1"/>
          <p:nvPr/>
        </p:nvSpPr>
        <p:spPr>
          <a:xfrm>
            <a:off x="2231136" y="2772697"/>
            <a:ext cx="67358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To distinguish we need to Compare the Nature of FFTs of given samples with the Test Samples and Identify the Bird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So by </a:t>
            </a:r>
            <a:r>
              <a:rPr lang="en-IN" dirty="0" err="1"/>
              <a:t>oberseving</a:t>
            </a:r>
            <a:r>
              <a:rPr lang="en-IN" dirty="0"/>
              <a:t> the FFTs we can Differentiate them on the basis of Number of Peaks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We normalise the FFT magnitude and </a:t>
            </a:r>
          </a:p>
        </p:txBody>
      </p:sp>
    </p:spTree>
    <p:extLst>
      <p:ext uri="{BB962C8B-B14F-4D97-AF65-F5344CB8AC3E}">
        <p14:creationId xmlns:p14="http://schemas.microsoft.com/office/powerpoint/2010/main" val="3887563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2C3C-6F05-32A6-BB6F-D59A3C96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E0726-2C0C-FBF1-CDB1-4683CE38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985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72CE-A3D0-04C5-1086-BDB9D096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B4FA2-E46D-5FA7-224F-1C8A0EF4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We are given 3 ECG waves, out of which 2 are noisy</a:t>
            </a:r>
          </a:p>
          <a:p>
            <a:r>
              <a:rPr lang="en-US" dirty="0"/>
              <a:t>We are tasked to find out the heart rate estimations per minute for each of these ECG waves.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a line&#10;&#10;Description automatically generated">
            <a:extLst>
              <a:ext uri="{FF2B5EF4-FFF2-40B4-BE49-F238E27FC236}">
                <a16:creationId xmlns:a16="http://schemas.microsoft.com/office/drawing/2014/main" id="{5C741E80-20E5-D66D-FC33-877DAFF0C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15890" y="1768763"/>
            <a:ext cx="3328416" cy="33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96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B14A4-0F3F-DFCF-85FB-FF74AC53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 from ECG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2F5-28B2-52EB-A146-76B6D29CC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every task we have to find out the heart rate (HR) estimation from ECG wave(s).</a:t>
            </a:r>
          </a:p>
          <a:p>
            <a:r>
              <a:rPr lang="en-US" dirty="0">
                <a:solidFill>
                  <a:schemeClr val="bg1"/>
                </a:solidFill>
              </a:rPr>
              <a:t>From ECG graph we can deduce the heart rate by finding out the RR interval</a:t>
            </a:r>
          </a:p>
          <a:p>
            <a:r>
              <a:rPr lang="en-US" dirty="0">
                <a:solidFill>
                  <a:schemeClr val="bg1"/>
                </a:solidFill>
              </a:rPr>
              <a:t>HR = 60/</a:t>
            </a:r>
            <a:r>
              <a:rPr lang="en-US" dirty="0" err="1">
                <a:solidFill>
                  <a:schemeClr val="bg1"/>
                </a:solidFill>
              </a:rPr>
              <a:t>RR_interval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diagram of a normal pulse&#10;&#10;Description automatically generated">
            <a:extLst>
              <a:ext uri="{FF2B5EF4-FFF2-40B4-BE49-F238E27FC236}">
                <a16:creationId xmlns:a16="http://schemas.microsoft.com/office/drawing/2014/main" id="{7EECEA83-5CEA-1864-3F68-DDE9EDACF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7763" y="1332693"/>
            <a:ext cx="6250769" cy="403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97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4F7F1-B475-F733-C304-074025F41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 err="1"/>
              <a:t>ECG_HRConverter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987930-0024-8666-2793-5F8AAB5C0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8873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4218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7AD4-77A0-48EA-F92C-3239ED5F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0" y="978776"/>
            <a:ext cx="3044953" cy="1174991"/>
          </a:xfrm>
        </p:spPr>
        <p:txBody>
          <a:bodyPr>
            <a:normAutofit/>
          </a:bodyPr>
          <a:lstStyle/>
          <a:p>
            <a:r>
              <a:rPr lang="en-US" sz="200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D6602-83DD-622B-5697-A1F8499F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0" y="2640692"/>
            <a:ext cx="3044952" cy="3255252"/>
          </a:xfrm>
        </p:spPr>
        <p:txBody>
          <a:bodyPr>
            <a:normAutofit/>
          </a:bodyPr>
          <a:lstStyle/>
          <a:p>
            <a:r>
              <a:rPr lang="en-US" sz="1600" dirty="0"/>
              <a:t>In this task we are required to find out HR for a non noisy ECG E1.</a:t>
            </a:r>
          </a:p>
          <a:p>
            <a:r>
              <a:rPr lang="en-US" sz="1600" dirty="0"/>
              <a:t>This is a straight forward task, when we employ our custom built function.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EA88300D-152C-6AD1-9125-B830EED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8"/>
          <a:stretch/>
        </p:blipFill>
        <p:spPr>
          <a:xfrm>
            <a:off x="4654296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28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C1996-547C-6302-894F-EFEFD778C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Task-2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55324CE-7966-C304-C8C0-15D430C6EE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" r="520" b="-1"/>
          <a:stretch/>
        </p:blipFill>
        <p:spPr>
          <a:xfrm>
            <a:off x="937374" y="643467"/>
            <a:ext cx="2832718" cy="2576105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6E886828-F057-2D84-4070-FD2E1F50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558" y="643468"/>
            <a:ext cx="2830883" cy="257610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0E316CC-7199-BB47-3F7A-B1A63F790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061" y="643468"/>
            <a:ext cx="2854409" cy="25761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9152D-01B7-9CE7-83EC-ACFEA1011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412" y="4846076"/>
            <a:ext cx="7715177" cy="12715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Both E2 and E3 signals are noisy.  This becomes apparent when we take a look at its FFT.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u="sng" dirty="0">
                <a:solidFill>
                  <a:schemeClr val="bg1"/>
                </a:solidFill>
              </a:rPr>
              <a:t>low pass filter with cutoff frequency 30hz </a:t>
            </a:r>
            <a:r>
              <a:rPr lang="en-US" sz="1500" dirty="0">
                <a:solidFill>
                  <a:schemeClr val="bg1"/>
                </a:solidFill>
              </a:rPr>
              <a:t>is enough to filter E2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An additional </a:t>
            </a:r>
            <a:r>
              <a:rPr lang="en-US" sz="1500" u="sng" dirty="0">
                <a:solidFill>
                  <a:schemeClr val="bg1"/>
                </a:solidFill>
              </a:rPr>
              <a:t>notch filter for 22hz </a:t>
            </a:r>
            <a:r>
              <a:rPr lang="en-US" sz="1500" dirty="0">
                <a:solidFill>
                  <a:schemeClr val="bg1"/>
                </a:solidFill>
              </a:rPr>
              <a:t>is employed for E3.</a:t>
            </a:r>
          </a:p>
        </p:txBody>
      </p:sp>
    </p:spTree>
    <p:extLst>
      <p:ext uri="{BB962C8B-B14F-4D97-AF65-F5344CB8AC3E}">
        <p14:creationId xmlns:p14="http://schemas.microsoft.com/office/powerpoint/2010/main" val="12699762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E44F273-1DE8-1826-3A0F-7727B9516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386" y="1838828"/>
            <a:ext cx="3517119" cy="320057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C5F90E5A-0EFB-1E7F-6946-3532D262F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1" y="1846952"/>
            <a:ext cx="3537345" cy="319245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7A8EBC9-76D5-9A53-9E85-E2FA2620A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1838828"/>
            <a:ext cx="3517120" cy="31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23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DB95023-F12E-8842-D660-824635C93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7783" y="804334"/>
            <a:ext cx="5816434" cy="524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70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17349-0F77-5E69-F319-C5F641870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14A97-C99E-440C-0654-805BFDB97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72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B098-D5CA-D743-E5BA-5291EF713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24444-E88D-E26A-77DF-D17762253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5753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76</TotalTime>
  <Words>407</Words>
  <Application>Microsoft Macintosh PowerPoint</Application>
  <PresentationFormat>Widescreen</PresentationFormat>
  <Paragraphs>44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Gill Sans MT</vt:lpstr>
      <vt:lpstr>Parcel</vt:lpstr>
      <vt:lpstr>SP-Project</vt:lpstr>
      <vt:lpstr>Part-1</vt:lpstr>
      <vt:lpstr>Problem statement</vt:lpstr>
      <vt:lpstr>FFT Plots of given samples</vt:lpstr>
      <vt:lpstr>Method</vt:lpstr>
      <vt:lpstr>Final Result</vt:lpstr>
      <vt:lpstr>Problem statement</vt:lpstr>
      <vt:lpstr>FFT of given samples</vt:lpstr>
      <vt:lpstr>Method to distinguish</vt:lpstr>
      <vt:lpstr>Part-2</vt:lpstr>
      <vt:lpstr>Problem statement</vt:lpstr>
      <vt:lpstr>HR from ECG</vt:lpstr>
      <vt:lpstr>ECG_HRConverter</vt:lpstr>
      <vt:lpstr>Task-1</vt:lpstr>
      <vt:lpstr>Task-2</vt:lpstr>
      <vt:lpstr>PowerPoint Presentation</vt:lpstr>
      <vt:lpstr>PowerPoint Presentation</vt:lpstr>
      <vt:lpstr>Part-3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Sai Rithvik</dc:creator>
  <cp:lastModifiedBy>A Sai Rithvik</cp:lastModifiedBy>
  <cp:revision>5</cp:revision>
  <dcterms:created xsi:type="dcterms:W3CDTF">2024-12-01T18:13:00Z</dcterms:created>
  <dcterms:modified xsi:type="dcterms:W3CDTF">2024-12-02T05:47:57Z</dcterms:modified>
</cp:coreProperties>
</file>