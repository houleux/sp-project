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5"/>
    <p:restoredTop sz="94694"/>
  </p:normalViewPr>
  <p:slideViewPr>
    <p:cSldViewPr snapToGrid="0">
      <p:cViewPr varScale="1">
        <p:scale>
          <a:sx n="96" d="100"/>
          <a:sy n="96" d="100"/>
        </p:scale>
        <p:origin x="200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AFC76D-62C0-4093-A4AA-3BFBA5CC1E5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89CB18B-BC07-45CA-ACB8-8FA7ECA6CC45}">
      <dgm:prSet/>
      <dgm:spPr/>
      <dgm:t>
        <a:bodyPr/>
        <a:lstStyle/>
        <a:p>
          <a:r>
            <a:rPr lang="en-US"/>
            <a:t>To help with this task, we made a function named ECG_HRConverter.</a:t>
          </a:r>
        </a:p>
      </dgm:t>
    </dgm:pt>
    <dgm:pt modelId="{A85DD5A2-8C36-4E25-AB6E-7CC74AEC8D11}" type="parTrans" cxnId="{381CB582-0AFD-464F-A868-626D59EE67E7}">
      <dgm:prSet/>
      <dgm:spPr/>
      <dgm:t>
        <a:bodyPr/>
        <a:lstStyle/>
        <a:p>
          <a:endParaRPr lang="en-US"/>
        </a:p>
      </dgm:t>
    </dgm:pt>
    <dgm:pt modelId="{7849319D-33DB-45B4-85CD-29FEDBC39E9A}" type="sibTrans" cxnId="{381CB582-0AFD-464F-A868-626D59EE67E7}">
      <dgm:prSet/>
      <dgm:spPr/>
      <dgm:t>
        <a:bodyPr/>
        <a:lstStyle/>
        <a:p>
          <a:endParaRPr lang="en-US"/>
        </a:p>
      </dgm:t>
    </dgm:pt>
    <dgm:pt modelId="{BBD09E85-3982-410A-93B1-9E8568FF83DD}">
      <dgm:prSet/>
      <dgm:spPr/>
      <dgm:t>
        <a:bodyPr/>
        <a:lstStyle/>
        <a:p>
          <a:r>
            <a:rPr lang="en-US"/>
            <a:t>This function finds R peaks using findpeaks function in matlab and then calculates the heart rate.</a:t>
          </a:r>
        </a:p>
      </dgm:t>
    </dgm:pt>
    <dgm:pt modelId="{F5490C7B-4835-48F0-A642-29144E292653}" type="parTrans" cxnId="{0693E60E-3A20-4C41-BD38-851817177D8C}">
      <dgm:prSet/>
      <dgm:spPr/>
      <dgm:t>
        <a:bodyPr/>
        <a:lstStyle/>
        <a:p>
          <a:endParaRPr lang="en-US"/>
        </a:p>
      </dgm:t>
    </dgm:pt>
    <dgm:pt modelId="{FC2447C8-7318-414F-A023-FB321A79A8A7}" type="sibTrans" cxnId="{0693E60E-3A20-4C41-BD38-851817177D8C}">
      <dgm:prSet/>
      <dgm:spPr/>
      <dgm:t>
        <a:bodyPr/>
        <a:lstStyle/>
        <a:p>
          <a:endParaRPr lang="en-US"/>
        </a:p>
      </dgm:t>
    </dgm:pt>
    <dgm:pt modelId="{2E2E496D-2B3E-45BF-81E0-476421142DB1}">
      <dgm:prSet/>
      <dgm:spPr/>
      <dgm:t>
        <a:bodyPr/>
        <a:lstStyle/>
        <a:p>
          <a:r>
            <a:rPr lang="en-US"/>
            <a:t>This heart rate is averaged out every minute and populates a vector which will be our output</a:t>
          </a:r>
        </a:p>
      </dgm:t>
    </dgm:pt>
    <dgm:pt modelId="{D18B903F-2061-43C1-9711-7B4543CA07AC}" type="parTrans" cxnId="{0B03FC0C-AB9F-4895-849B-F3E61410965F}">
      <dgm:prSet/>
      <dgm:spPr/>
      <dgm:t>
        <a:bodyPr/>
        <a:lstStyle/>
        <a:p>
          <a:endParaRPr lang="en-US"/>
        </a:p>
      </dgm:t>
    </dgm:pt>
    <dgm:pt modelId="{A3ECF9C0-19FA-4B34-B2D7-914B8105A45D}" type="sibTrans" cxnId="{0B03FC0C-AB9F-4895-849B-F3E61410965F}">
      <dgm:prSet/>
      <dgm:spPr/>
      <dgm:t>
        <a:bodyPr/>
        <a:lstStyle/>
        <a:p>
          <a:endParaRPr lang="en-US"/>
        </a:p>
      </dgm:t>
    </dgm:pt>
    <dgm:pt modelId="{0D442ACA-27C9-BA4F-BC8E-8C825A8A60D9}" type="pres">
      <dgm:prSet presAssocID="{27AFC76D-62C0-4093-A4AA-3BFBA5CC1E5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A2BC106-967B-D847-A216-C1994F4C14F6}" type="pres">
      <dgm:prSet presAssocID="{989CB18B-BC07-45CA-ACB8-8FA7ECA6CC45}" presName="hierRoot1" presStyleCnt="0"/>
      <dgm:spPr/>
    </dgm:pt>
    <dgm:pt modelId="{8DB60253-E2B7-7E40-8DF0-1BC8857A7555}" type="pres">
      <dgm:prSet presAssocID="{989CB18B-BC07-45CA-ACB8-8FA7ECA6CC45}" presName="composite" presStyleCnt="0"/>
      <dgm:spPr/>
    </dgm:pt>
    <dgm:pt modelId="{28AB8E69-ECA0-C14C-A147-40D756CC7545}" type="pres">
      <dgm:prSet presAssocID="{989CB18B-BC07-45CA-ACB8-8FA7ECA6CC45}" presName="background" presStyleLbl="node0" presStyleIdx="0" presStyleCnt="3"/>
      <dgm:spPr/>
    </dgm:pt>
    <dgm:pt modelId="{1D481F00-7721-DD48-B2F7-E12F7F5A4920}" type="pres">
      <dgm:prSet presAssocID="{989CB18B-BC07-45CA-ACB8-8FA7ECA6CC45}" presName="text" presStyleLbl="fgAcc0" presStyleIdx="0" presStyleCnt="3">
        <dgm:presLayoutVars>
          <dgm:chPref val="3"/>
        </dgm:presLayoutVars>
      </dgm:prSet>
      <dgm:spPr/>
    </dgm:pt>
    <dgm:pt modelId="{BF615D56-AD2D-3042-A83A-F514BFD9FECE}" type="pres">
      <dgm:prSet presAssocID="{989CB18B-BC07-45CA-ACB8-8FA7ECA6CC45}" presName="hierChild2" presStyleCnt="0"/>
      <dgm:spPr/>
    </dgm:pt>
    <dgm:pt modelId="{06CC5A93-F4C2-7347-A481-772668D98BEC}" type="pres">
      <dgm:prSet presAssocID="{BBD09E85-3982-410A-93B1-9E8568FF83DD}" presName="hierRoot1" presStyleCnt="0"/>
      <dgm:spPr/>
    </dgm:pt>
    <dgm:pt modelId="{0D042DA7-8C71-C044-86B1-AA0531743F9B}" type="pres">
      <dgm:prSet presAssocID="{BBD09E85-3982-410A-93B1-9E8568FF83DD}" presName="composite" presStyleCnt="0"/>
      <dgm:spPr/>
    </dgm:pt>
    <dgm:pt modelId="{4E88472A-D1CC-FB4B-B750-FB026ED8421F}" type="pres">
      <dgm:prSet presAssocID="{BBD09E85-3982-410A-93B1-9E8568FF83DD}" presName="background" presStyleLbl="node0" presStyleIdx="1" presStyleCnt="3"/>
      <dgm:spPr/>
    </dgm:pt>
    <dgm:pt modelId="{C50B1727-2E5F-324D-BBA7-9EEC579CB366}" type="pres">
      <dgm:prSet presAssocID="{BBD09E85-3982-410A-93B1-9E8568FF83DD}" presName="text" presStyleLbl="fgAcc0" presStyleIdx="1" presStyleCnt="3">
        <dgm:presLayoutVars>
          <dgm:chPref val="3"/>
        </dgm:presLayoutVars>
      </dgm:prSet>
      <dgm:spPr/>
    </dgm:pt>
    <dgm:pt modelId="{8E32DBC1-09F9-0C44-8689-AF75999C5869}" type="pres">
      <dgm:prSet presAssocID="{BBD09E85-3982-410A-93B1-9E8568FF83DD}" presName="hierChild2" presStyleCnt="0"/>
      <dgm:spPr/>
    </dgm:pt>
    <dgm:pt modelId="{538AAA52-EA55-0547-A22C-16DEC8A6039D}" type="pres">
      <dgm:prSet presAssocID="{2E2E496D-2B3E-45BF-81E0-476421142DB1}" presName="hierRoot1" presStyleCnt="0"/>
      <dgm:spPr/>
    </dgm:pt>
    <dgm:pt modelId="{97DD58CB-F0F9-5143-AE96-7AC03534AA15}" type="pres">
      <dgm:prSet presAssocID="{2E2E496D-2B3E-45BF-81E0-476421142DB1}" presName="composite" presStyleCnt="0"/>
      <dgm:spPr/>
    </dgm:pt>
    <dgm:pt modelId="{D59B30FA-9C2D-0B4C-93F7-DA1667B69F06}" type="pres">
      <dgm:prSet presAssocID="{2E2E496D-2B3E-45BF-81E0-476421142DB1}" presName="background" presStyleLbl="node0" presStyleIdx="2" presStyleCnt="3"/>
      <dgm:spPr/>
    </dgm:pt>
    <dgm:pt modelId="{17E8D460-8A64-764A-84C9-E85B67EE1A1E}" type="pres">
      <dgm:prSet presAssocID="{2E2E496D-2B3E-45BF-81E0-476421142DB1}" presName="text" presStyleLbl="fgAcc0" presStyleIdx="2" presStyleCnt="3">
        <dgm:presLayoutVars>
          <dgm:chPref val="3"/>
        </dgm:presLayoutVars>
      </dgm:prSet>
      <dgm:spPr/>
    </dgm:pt>
    <dgm:pt modelId="{29D73818-C722-1B46-9458-EB7ABA80E9CB}" type="pres">
      <dgm:prSet presAssocID="{2E2E496D-2B3E-45BF-81E0-476421142DB1}" presName="hierChild2" presStyleCnt="0"/>
      <dgm:spPr/>
    </dgm:pt>
  </dgm:ptLst>
  <dgm:cxnLst>
    <dgm:cxn modelId="{0B03FC0C-AB9F-4895-849B-F3E61410965F}" srcId="{27AFC76D-62C0-4093-A4AA-3BFBA5CC1E5D}" destId="{2E2E496D-2B3E-45BF-81E0-476421142DB1}" srcOrd="2" destOrd="0" parTransId="{D18B903F-2061-43C1-9711-7B4543CA07AC}" sibTransId="{A3ECF9C0-19FA-4B34-B2D7-914B8105A45D}"/>
    <dgm:cxn modelId="{0693E60E-3A20-4C41-BD38-851817177D8C}" srcId="{27AFC76D-62C0-4093-A4AA-3BFBA5CC1E5D}" destId="{BBD09E85-3982-410A-93B1-9E8568FF83DD}" srcOrd="1" destOrd="0" parTransId="{F5490C7B-4835-48F0-A642-29144E292653}" sibTransId="{FC2447C8-7318-414F-A023-FB321A79A8A7}"/>
    <dgm:cxn modelId="{CFF27C1E-92FC-1448-BB72-B063939B06E6}" type="presOf" srcId="{BBD09E85-3982-410A-93B1-9E8568FF83DD}" destId="{C50B1727-2E5F-324D-BBA7-9EEC579CB366}" srcOrd="0" destOrd="0" presId="urn:microsoft.com/office/officeart/2005/8/layout/hierarchy1"/>
    <dgm:cxn modelId="{34020142-7F53-1B49-AE9D-BE61BA86871D}" type="presOf" srcId="{27AFC76D-62C0-4093-A4AA-3BFBA5CC1E5D}" destId="{0D442ACA-27C9-BA4F-BC8E-8C825A8A60D9}" srcOrd="0" destOrd="0" presId="urn:microsoft.com/office/officeart/2005/8/layout/hierarchy1"/>
    <dgm:cxn modelId="{4C4BE171-5107-DB4E-AC01-57FE1BF38DF9}" type="presOf" srcId="{2E2E496D-2B3E-45BF-81E0-476421142DB1}" destId="{17E8D460-8A64-764A-84C9-E85B67EE1A1E}" srcOrd="0" destOrd="0" presId="urn:microsoft.com/office/officeart/2005/8/layout/hierarchy1"/>
    <dgm:cxn modelId="{F1FF7979-393C-5044-B698-97FEBE80A774}" type="presOf" srcId="{989CB18B-BC07-45CA-ACB8-8FA7ECA6CC45}" destId="{1D481F00-7721-DD48-B2F7-E12F7F5A4920}" srcOrd="0" destOrd="0" presId="urn:microsoft.com/office/officeart/2005/8/layout/hierarchy1"/>
    <dgm:cxn modelId="{381CB582-0AFD-464F-A868-626D59EE67E7}" srcId="{27AFC76D-62C0-4093-A4AA-3BFBA5CC1E5D}" destId="{989CB18B-BC07-45CA-ACB8-8FA7ECA6CC45}" srcOrd="0" destOrd="0" parTransId="{A85DD5A2-8C36-4E25-AB6E-7CC74AEC8D11}" sibTransId="{7849319D-33DB-45B4-85CD-29FEDBC39E9A}"/>
    <dgm:cxn modelId="{8F1368D0-5D8F-B448-BF5B-37F2F8B9973A}" type="presParOf" srcId="{0D442ACA-27C9-BA4F-BC8E-8C825A8A60D9}" destId="{BA2BC106-967B-D847-A216-C1994F4C14F6}" srcOrd="0" destOrd="0" presId="urn:microsoft.com/office/officeart/2005/8/layout/hierarchy1"/>
    <dgm:cxn modelId="{6023BD60-E4A5-2F43-AF39-F8EFD363A705}" type="presParOf" srcId="{BA2BC106-967B-D847-A216-C1994F4C14F6}" destId="{8DB60253-E2B7-7E40-8DF0-1BC8857A7555}" srcOrd="0" destOrd="0" presId="urn:microsoft.com/office/officeart/2005/8/layout/hierarchy1"/>
    <dgm:cxn modelId="{C71A0D98-597A-0947-B720-6F97B60D754B}" type="presParOf" srcId="{8DB60253-E2B7-7E40-8DF0-1BC8857A7555}" destId="{28AB8E69-ECA0-C14C-A147-40D756CC7545}" srcOrd="0" destOrd="0" presId="urn:microsoft.com/office/officeart/2005/8/layout/hierarchy1"/>
    <dgm:cxn modelId="{1DC2E5DE-599B-834A-A807-38E78ED8C56B}" type="presParOf" srcId="{8DB60253-E2B7-7E40-8DF0-1BC8857A7555}" destId="{1D481F00-7721-DD48-B2F7-E12F7F5A4920}" srcOrd="1" destOrd="0" presId="urn:microsoft.com/office/officeart/2005/8/layout/hierarchy1"/>
    <dgm:cxn modelId="{0B683E9D-7393-4643-9134-BC1BFD682288}" type="presParOf" srcId="{BA2BC106-967B-D847-A216-C1994F4C14F6}" destId="{BF615D56-AD2D-3042-A83A-F514BFD9FECE}" srcOrd="1" destOrd="0" presId="urn:microsoft.com/office/officeart/2005/8/layout/hierarchy1"/>
    <dgm:cxn modelId="{49D8801B-BAA1-8A4F-9C22-0CA12CB58CEF}" type="presParOf" srcId="{0D442ACA-27C9-BA4F-BC8E-8C825A8A60D9}" destId="{06CC5A93-F4C2-7347-A481-772668D98BEC}" srcOrd="1" destOrd="0" presId="urn:microsoft.com/office/officeart/2005/8/layout/hierarchy1"/>
    <dgm:cxn modelId="{0DEC38E8-2386-FB42-97A7-95A6637AEC97}" type="presParOf" srcId="{06CC5A93-F4C2-7347-A481-772668D98BEC}" destId="{0D042DA7-8C71-C044-86B1-AA0531743F9B}" srcOrd="0" destOrd="0" presId="urn:microsoft.com/office/officeart/2005/8/layout/hierarchy1"/>
    <dgm:cxn modelId="{C745AA5A-F5FC-7846-8807-8ABF0AD81781}" type="presParOf" srcId="{0D042DA7-8C71-C044-86B1-AA0531743F9B}" destId="{4E88472A-D1CC-FB4B-B750-FB026ED8421F}" srcOrd="0" destOrd="0" presId="urn:microsoft.com/office/officeart/2005/8/layout/hierarchy1"/>
    <dgm:cxn modelId="{30819E2E-AEDD-7347-A181-2CE681E50957}" type="presParOf" srcId="{0D042DA7-8C71-C044-86B1-AA0531743F9B}" destId="{C50B1727-2E5F-324D-BBA7-9EEC579CB366}" srcOrd="1" destOrd="0" presId="urn:microsoft.com/office/officeart/2005/8/layout/hierarchy1"/>
    <dgm:cxn modelId="{101AF107-8B7E-9E41-A746-A0C3F5D4BE5A}" type="presParOf" srcId="{06CC5A93-F4C2-7347-A481-772668D98BEC}" destId="{8E32DBC1-09F9-0C44-8689-AF75999C5869}" srcOrd="1" destOrd="0" presId="urn:microsoft.com/office/officeart/2005/8/layout/hierarchy1"/>
    <dgm:cxn modelId="{F10F9F02-A985-6347-BB0D-742FF79ACC35}" type="presParOf" srcId="{0D442ACA-27C9-BA4F-BC8E-8C825A8A60D9}" destId="{538AAA52-EA55-0547-A22C-16DEC8A6039D}" srcOrd="2" destOrd="0" presId="urn:microsoft.com/office/officeart/2005/8/layout/hierarchy1"/>
    <dgm:cxn modelId="{BD908F6F-EA48-9348-92ED-B2B27B7AD78E}" type="presParOf" srcId="{538AAA52-EA55-0547-A22C-16DEC8A6039D}" destId="{97DD58CB-F0F9-5143-AE96-7AC03534AA15}" srcOrd="0" destOrd="0" presId="urn:microsoft.com/office/officeart/2005/8/layout/hierarchy1"/>
    <dgm:cxn modelId="{6B4858BC-10FA-7E44-B4BB-F994A53CEC47}" type="presParOf" srcId="{97DD58CB-F0F9-5143-AE96-7AC03534AA15}" destId="{D59B30FA-9C2D-0B4C-93F7-DA1667B69F06}" srcOrd="0" destOrd="0" presId="urn:microsoft.com/office/officeart/2005/8/layout/hierarchy1"/>
    <dgm:cxn modelId="{947A5DE2-5636-A24E-97BA-4BD97EE7BC87}" type="presParOf" srcId="{97DD58CB-F0F9-5143-AE96-7AC03534AA15}" destId="{17E8D460-8A64-764A-84C9-E85B67EE1A1E}" srcOrd="1" destOrd="0" presId="urn:microsoft.com/office/officeart/2005/8/layout/hierarchy1"/>
    <dgm:cxn modelId="{725F34FA-CF44-8A44-88EA-7435866D69EC}" type="presParOf" srcId="{538AAA52-EA55-0547-A22C-16DEC8A6039D}" destId="{29D73818-C722-1B46-9458-EB7ABA80E9C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AB8E69-ECA0-C14C-A147-40D756CC7545}">
      <dsp:nvSpPr>
        <dsp:cNvPr id="0" name=""/>
        <dsp:cNvSpPr/>
      </dsp:nvSpPr>
      <dsp:spPr>
        <a:xfrm>
          <a:off x="0" y="485224"/>
          <a:ext cx="2886075" cy="18326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481F00-7721-DD48-B2F7-E12F7F5A4920}">
      <dsp:nvSpPr>
        <dsp:cNvPr id="0" name=""/>
        <dsp:cNvSpPr/>
      </dsp:nvSpPr>
      <dsp:spPr>
        <a:xfrm>
          <a:off x="320675" y="789865"/>
          <a:ext cx="2886075" cy="18326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To help with this task, we made a function named ECG_HRConverter.</a:t>
          </a:r>
        </a:p>
      </dsp:txBody>
      <dsp:txXfrm>
        <a:off x="374352" y="843542"/>
        <a:ext cx="2778721" cy="1725303"/>
      </dsp:txXfrm>
    </dsp:sp>
    <dsp:sp modelId="{4E88472A-D1CC-FB4B-B750-FB026ED8421F}">
      <dsp:nvSpPr>
        <dsp:cNvPr id="0" name=""/>
        <dsp:cNvSpPr/>
      </dsp:nvSpPr>
      <dsp:spPr>
        <a:xfrm>
          <a:off x="3527425" y="485224"/>
          <a:ext cx="2886075" cy="18326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0B1727-2E5F-324D-BBA7-9EEC579CB366}">
      <dsp:nvSpPr>
        <dsp:cNvPr id="0" name=""/>
        <dsp:cNvSpPr/>
      </dsp:nvSpPr>
      <dsp:spPr>
        <a:xfrm>
          <a:off x="3848099" y="789865"/>
          <a:ext cx="2886075" cy="18326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This function finds R peaks using findpeaks function in matlab and then calculates the heart rate.</a:t>
          </a:r>
        </a:p>
      </dsp:txBody>
      <dsp:txXfrm>
        <a:off x="3901776" y="843542"/>
        <a:ext cx="2778721" cy="1725303"/>
      </dsp:txXfrm>
    </dsp:sp>
    <dsp:sp modelId="{D59B30FA-9C2D-0B4C-93F7-DA1667B69F06}">
      <dsp:nvSpPr>
        <dsp:cNvPr id="0" name=""/>
        <dsp:cNvSpPr/>
      </dsp:nvSpPr>
      <dsp:spPr>
        <a:xfrm>
          <a:off x="7054850" y="485224"/>
          <a:ext cx="2886075" cy="18326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E8D460-8A64-764A-84C9-E85B67EE1A1E}">
      <dsp:nvSpPr>
        <dsp:cNvPr id="0" name=""/>
        <dsp:cNvSpPr/>
      </dsp:nvSpPr>
      <dsp:spPr>
        <a:xfrm>
          <a:off x="7375524" y="789865"/>
          <a:ext cx="2886075" cy="18326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This heart rate is averaged out every minute and populates a vector which will be our output</a:t>
          </a:r>
        </a:p>
      </dsp:txBody>
      <dsp:txXfrm>
        <a:off x="7429201" y="843542"/>
        <a:ext cx="2778721" cy="17253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12/1/24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12/1/24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12/1/24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12/1/24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12/1/24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12/1/24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12/1/24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12/1/24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12/1/24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12/1/24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12/1/24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12/1/24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_wave_(electrocardiography)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cgwaves.com/ecg-normal-p-wave-qrs-complex-st-segment-t-wave-j-point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D27A4-459A-1763-CC55-2C652E11D8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SP-Project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95648C-5C6F-3693-3887-08E0565B2D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FourYear</a:t>
            </a:r>
            <a:r>
              <a:rPr lang="en-US" dirty="0"/>
              <a:t> Transforms</a:t>
            </a:r>
          </a:p>
        </p:txBody>
      </p:sp>
    </p:spTree>
    <p:extLst>
      <p:ext uri="{BB962C8B-B14F-4D97-AF65-F5344CB8AC3E}">
        <p14:creationId xmlns:p14="http://schemas.microsoft.com/office/powerpoint/2010/main" val="411106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62C3C-6F05-32A6-BB6F-D59A3C96C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Part-2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E0726-2C0C-FBF1-CDB1-4683CE380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985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272CE-A3D0-04C5-1086-BDB9D0965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5894832" cy="1188720"/>
          </a:xfrm>
        </p:spPr>
        <p:txBody>
          <a:bodyPr>
            <a:normAutofit/>
          </a:bodyPr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B4FA2-E46D-5FA7-224F-1C8A0EF49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3" y="2638044"/>
            <a:ext cx="5963317" cy="3263206"/>
          </a:xfrm>
        </p:spPr>
        <p:txBody>
          <a:bodyPr>
            <a:normAutofit/>
          </a:bodyPr>
          <a:lstStyle/>
          <a:p>
            <a:r>
              <a:rPr lang="en-US" dirty="0"/>
              <a:t>We are given 3 ECG waves, out of which 2 are noisy</a:t>
            </a:r>
          </a:p>
          <a:p>
            <a:r>
              <a:rPr lang="en-US" dirty="0"/>
              <a:t>We are tasked to find out the heart rate estimations per minute for each of these ECG waves.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9398A9-0D0D-4901-BDDF-B3D93CECA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6706" y="964692"/>
            <a:ext cx="3986784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1FEC3B-E514-4E21-B2CB-7903A7356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1298" y="1128683"/>
            <a:ext cx="3657600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with a line&#10;&#10;Description automatically generated">
            <a:extLst>
              <a:ext uri="{FF2B5EF4-FFF2-40B4-BE49-F238E27FC236}">
                <a16:creationId xmlns:a16="http://schemas.microsoft.com/office/drawing/2014/main" id="{5C741E80-20E5-D66D-FC33-877DAFF0C0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715890" y="1768763"/>
            <a:ext cx="3328416" cy="332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096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2B14A4-0F3F-DFCF-85FB-FF74AC53C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3974" cy="172804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HR from ECG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5F2F5-28B2-52EB-A146-76B6D29CC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38044"/>
            <a:ext cx="3363974" cy="34156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 every task we have to find out the heart rate (HR) estimation from ECG wave(s).</a:t>
            </a:r>
          </a:p>
          <a:p>
            <a:r>
              <a:rPr lang="en-US" dirty="0">
                <a:solidFill>
                  <a:schemeClr val="bg1"/>
                </a:solidFill>
              </a:rPr>
              <a:t>From ECG graph we can deduce the heart rate by finding out the RR interval</a:t>
            </a:r>
          </a:p>
          <a:p>
            <a:r>
              <a:rPr lang="en-US" dirty="0">
                <a:solidFill>
                  <a:schemeClr val="bg1"/>
                </a:solidFill>
              </a:rPr>
              <a:t>HR = 60/</a:t>
            </a:r>
            <a:r>
              <a:rPr lang="en-US" dirty="0" err="1">
                <a:solidFill>
                  <a:schemeClr val="bg1"/>
                </a:solidFill>
              </a:rPr>
              <a:t>RR_interval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Picture 6" descr="A diagram of a normal pulse&#10;&#10;Description automatically generated">
            <a:extLst>
              <a:ext uri="{FF2B5EF4-FFF2-40B4-BE49-F238E27FC236}">
                <a16:creationId xmlns:a16="http://schemas.microsoft.com/office/drawing/2014/main" id="{7EECEA83-5CEA-1864-3F68-DDE9EDACF2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297763" y="1332693"/>
            <a:ext cx="6250769" cy="403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697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4F7F1-B475-F733-C304-074025F41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n-US" dirty="0" err="1"/>
              <a:t>ECG_HRConverter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987930-0024-8666-2793-5F8AAB5C09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0388734"/>
              </p:ext>
            </p:extLst>
          </p:nvPr>
        </p:nvGraphicFramePr>
        <p:xfrm>
          <a:off x="965200" y="2638425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4218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47AD4-77A0-48EA-F92C-3239ED5F0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0" y="978776"/>
            <a:ext cx="3044953" cy="1174991"/>
          </a:xfrm>
        </p:spPr>
        <p:txBody>
          <a:bodyPr>
            <a:normAutofit/>
          </a:bodyPr>
          <a:lstStyle/>
          <a:p>
            <a:r>
              <a:rPr lang="en-US" sz="2000"/>
              <a:t>Task-1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D6602-83DD-622B-5697-A1F8499F7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0" y="2640692"/>
            <a:ext cx="3044952" cy="3255252"/>
          </a:xfrm>
        </p:spPr>
        <p:txBody>
          <a:bodyPr>
            <a:normAutofit/>
          </a:bodyPr>
          <a:lstStyle/>
          <a:p>
            <a:r>
              <a:rPr lang="en-US" sz="1600" dirty="0"/>
              <a:t>In this task we are required to find out HR for a non noisy ECG E1.</a:t>
            </a:r>
          </a:p>
          <a:p>
            <a:r>
              <a:rPr lang="en-US" sz="1600" dirty="0"/>
              <a:t>This is a straight forward task, when we employ our custom built function.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EA88300D-152C-6AD1-9125-B830EED228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18"/>
          <a:stretch/>
        </p:blipFill>
        <p:spPr>
          <a:xfrm>
            <a:off x="4654296" y="10"/>
            <a:ext cx="7537704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528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930BC020-BDBF-49EB-9898-BAB5BF559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4950C64-5D81-40F1-9601-8BA0D63BA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AC1996-547C-6302-894F-EFEFD778C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781241"/>
            <a:ext cx="7729729" cy="855406"/>
          </a:xfrm>
          <a:noFill/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Task-2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955324CE-7966-C304-C8C0-15D430C6EE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" r="520" b="-1"/>
          <a:stretch/>
        </p:blipFill>
        <p:spPr>
          <a:xfrm>
            <a:off x="937374" y="643467"/>
            <a:ext cx="2832718" cy="2576105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6E886828-F057-2D84-4070-FD2E1F500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558" y="643468"/>
            <a:ext cx="2830883" cy="2576104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B0E316CC-7199-BB47-3F7A-B1A63F7909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1061" y="643468"/>
            <a:ext cx="2854409" cy="257610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9152D-01B7-9CE7-83EC-ACFEA1011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8412" y="4846076"/>
            <a:ext cx="7715177" cy="127155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 dirty="0">
                <a:solidFill>
                  <a:schemeClr val="bg1"/>
                </a:solidFill>
              </a:rPr>
              <a:t>Both E2 and E3 signals are noisy.  This becomes apparent when we take a look at its FFT.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chemeClr val="bg1"/>
                </a:solidFill>
              </a:rPr>
              <a:t>A </a:t>
            </a:r>
            <a:r>
              <a:rPr lang="en-US" sz="1500" u="sng" dirty="0">
                <a:solidFill>
                  <a:schemeClr val="bg1"/>
                </a:solidFill>
              </a:rPr>
              <a:t>low pass filter with cutoff frequency 30hz </a:t>
            </a:r>
            <a:r>
              <a:rPr lang="en-US" sz="1500" dirty="0">
                <a:solidFill>
                  <a:schemeClr val="bg1"/>
                </a:solidFill>
              </a:rPr>
              <a:t>is enough to filter E2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chemeClr val="bg1"/>
                </a:solidFill>
              </a:rPr>
              <a:t>An additional </a:t>
            </a:r>
            <a:r>
              <a:rPr lang="en-US" sz="1500" u="sng" dirty="0">
                <a:solidFill>
                  <a:schemeClr val="bg1"/>
                </a:solidFill>
              </a:rPr>
              <a:t>notch filter for 22hz </a:t>
            </a:r>
            <a:r>
              <a:rPr lang="en-US" sz="1500" dirty="0">
                <a:solidFill>
                  <a:schemeClr val="bg1"/>
                </a:solidFill>
              </a:rPr>
              <a:t>is employed for E3.</a:t>
            </a:r>
          </a:p>
        </p:txBody>
      </p:sp>
    </p:spTree>
    <p:extLst>
      <p:ext uri="{BB962C8B-B14F-4D97-AF65-F5344CB8AC3E}">
        <p14:creationId xmlns:p14="http://schemas.microsoft.com/office/powerpoint/2010/main" val="1269976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EDB95023-F12E-8842-D660-824635C93E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7783" y="804334"/>
            <a:ext cx="5816434" cy="524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27042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35</TotalTime>
  <Words>214</Words>
  <Application>Microsoft Macintosh PowerPoint</Application>
  <PresentationFormat>Widescreen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Gill Sans MT</vt:lpstr>
      <vt:lpstr>Parcel</vt:lpstr>
      <vt:lpstr>SP-Project</vt:lpstr>
      <vt:lpstr>Part-2</vt:lpstr>
      <vt:lpstr>Problem statement</vt:lpstr>
      <vt:lpstr>HR from ECG</vt:lpstr>
      <vt:lpstr>ECG_HRConverter</vt:lpstr>
      <vt:lpstr>Task-1</vt:lpstr>
      <vt:lpstr>Task-2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Sai Rithvik</dc:creator>
  <cp:lastModifiedBy>A Sai Rithvik</cp:lastModifiedBy>
  <cp:revision>1</cp:revision>
  <dcterms:created xsi:type="dcterms:W3CDTF">2024-12-01T18:13:00Z</dcterms:created>
  <dcterms:modified xsi:type="dcterms:W3CDTF">2024-12-01T18:48:07Z</dcterms:modified>
</cp:coreProperties>
</file>